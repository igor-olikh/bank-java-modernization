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1"/>
  </p:notesMasterIdLst>
  <p:sldIdLst>
    <p:sldId id="2147483229" r:id="rId4"/>
    <p:sldId id="2147482978" r:id="rId5"/>
    <p:sldId id="2147483255" r:id="rId6"/>
    <p:sldId id="2147483256" r:id="rId7"/>
    <p:sldId id="2147483259" r:id="rId8"/>
    <p:sldId id="2147483260" r:id="rId17"/>
    <p:sldId id="2147483261" r:id="rId18"/>
    <p:sldId id="2147483262" r:id="rId19"/>
    <p:sldId id="2147483258" r:id="rId9"/>
    <p:sldId id="21474691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83"/>
    <p:restoredTop sz="94647"/>
  </p:normalViewPr>
  <p:slideViewPr>
    <p:cSldViewPr snapToGrid="0">
      <p:cViewPr varScale="1">
        <p:scale>
          <a:sx n="151" d="100"/>
          <a:sy n="151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0.xml"/><Relationship Id="rId15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4.xml"/><Relationship Id="rId19" Type="http://schemas.openxmlformats.org/officeDocument/2006/relationships/slideLayout" Target="../slideLayouts/slideLayout75.xml"/><Relationship Id="rId20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77.xml"/><Relationship Id="rId22" Type="http://schemas.openxmlformats.org/officeDocument/2006/relationships/slideLayout" Target="../slideLayouts/slideLayout78.xml"/><Relationship Id="rId23" Type="http://schemas.openxmlformats.org/officeDocument/2006/relationships/slideLayout" Target="../slideLayouts/slideLayout79.xml"/><Relationship Id="rId24" Type="http://schemas.openxmlformats.org/officeDocument/2006/relationships/slideLayout" Target="../slideLayouts/slideLayout80.xml"/><Relationship Id="rId25" Type="http://schemas.openxmlformats.org/officeDocument/2006/relationships/slideLayout" Target="../slideLayouts/slideLayout81.xml"/><Relationship Id="rId26" Type="http://schemas.openxmlformats.org/officeDocument/2006/relationships/slideLayout" Target="../slideLayouts/slideLayout82.xml"/><Relationship Id="rId27" Type="http://schemas.openxmlformats.org/officeDocument/2006/relationships/slideLayout" Target="../slideLayouts/slideLayout83.xml"/><Relationship Id="rId28" Type="http://schemas.openxmlformats.org/officeDocument/2006/relationships/slideLayout" Target="../slideLayouts/slideLayout84.xml"/><Relationship Id="rId29" Type="http://schemas.openxmlformats.org/officeDocument/2006/relationships/slideLayout" Target="../slideLayouts/slideLayout85.xml"/><Relationship Id="rId30" Type="http://schemas.openxmlformats.org/officeDocument/2006/relationships/slideLayout" Target="../slideLayouts/slideLayout86.xml"/><Relationship Id="rId31" Type="http://schemas.openxmlformats.org/officeDocument/2006/relationships/slideLayout" Target="../slideLayouts/slideLayout87.xml"/><Relationship Id="rId32" Type="http://schemas.openxmlformats.org/officeDocument/2006/relationships/slideLayout" Target="../slideLayouts/slideLayout88.xml"/><Relationship Id="rId33" Type="http://schemas.openxmlformats.org/officeDocument/2006/relationships/slideLayout" Target="../slideLayouts/slideLayout89.xml"/><Relationship Id="rId34" Type="http://schemas.openxmlformats.org/officeDocument/2006/relationships/slideLayout" Target="../slideLayouts/slideLayout90.xml"/><Relationship Id="rId35" Type="http://schemas.openxmlformats.org/officeDocument/2006/relationships/slideLayout" Target="../slideLayouts/slideLayout91.xml"/><Relationship Id="rId36" Type="http://schemas.openxmlformats.org/officeDocument/2006/relationships/slideLayout" Target="../slideLayouts/slideLayout92.xml"/><Relationship Id="rId37" Type="http://schemas.openxmlformats.org/officeDocument/2006/relationships/slideLayout" Target="../slideLayouts/slideLayout93.xml"/><Relationship Id="rId38" Type="http://schemas.openxmlformats.org/officeDocument/2006/relationships/slideLayout" Target="../slideLayouts/slideLayout94.xml"/><Relationship Id="rId39" Type="http://schemas.openxmlformats.org/officeDocument/2006/relationships/slideLayout" Target="../slideLayouts/slideLayout95.xml"/><Relationship Id="rId40" Type="http://schemas.openxmlformats.org/officeDocument/2006/relationships/slideLayout" Target="../slideLayouts/slideLayout96.xml"/><Relationship Id="rId41" Type="http://schemas.openxmlformats.org/officeDocument/2006/relationships/slideLayout" Target="../slideLayouts/slideLayout97.xml"/><Relationship Id="rId42" Type="http://schemas.openxmlformats.org/officeDocument/2006/relationships/slideLayout" Target="../slideLayouts/slideLayout98.xml"/><Relationship Id="rId43" Type="http://schemas.openxmlformats.org/officeDocument/2006/relationships/slideLayout" Target="../slideLayouts/slideLayout99.xml"/><Relationship Id="rId44" Type="http://schemas.openxmlformats.org/officeDocument/2006/relationships/slideLayout" Target="../slideLayouts/slideLayout100.xml"/><Relationship Id="rId45" Type="http://schemas.openxmlformats.org/officeDocument/2006/relationships/slideLayout" Target="../slideLayouts/slideLayout101.xml"/><Relationship Id="rId46" Type="http://schemas.openxmlformats.org/officeDocument/2006/relationships/slideLayout" Target="../slideLayouts/slideLayout102.xml"/><Relationship Id="rId4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839" y="245507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9" y="776146"/>
            <a:ext cx="7367894" cy="576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279905" y="1507111"/>
            <a:ext cx="6269855" cy="4678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600" b="1" dirty="0"/>
              <a:t>Specialized Java and Modernization Expertise</a:t>
            </a:r>
            <a:endParaRPr lang="en-US" sz="1600" dirty="0"/>
          </a:p>
          <a:p>
            <a:endParaRPr lang="en-US" sz="1600" dirty="0"/>
          </a:p>
          <a:p>
            <a:r>
              <a:rPr sz="1600" b="1" dirty="0"/>
              <a:t>This project required deep understanding of:</a:t>
            </a:r>
          </a:p>
          <a:p>
            <a:r>
              <a:rPr sz="1600" b="1" dirty="0"/>
              <a:t>Modern Java syntax: Records, Sealed Types</a:t>
            </a:r>
            <a:r>
              <a:rPr lang="en-US" sz="1600" b="1" dirty="0"/>
              <a:t>, </a:t>
            </a:r>
            <a:r>
              <a:rPr sz="1600" b="1" dirty="0"/>
              <a:t>Pattern Matching</a:t>
            </a:r>
            <a:r>
              <a:rPr lang="en-US" sz="1600" b="1" dirty="0"/>
              <a:t>, </a:t>
            </a:r>
            <a:r>
              <a:rPr sz="1600" b="1" dirty="0"/>
              <a:t>Virtual Threads</a:t>
            </a:r>
          </a:p>
          <a:p>
            <a:r>
              <a:rPr sz="1600" b="1" dirty="0"/>
              <a:t>Maven build lifecycle (</a:t>
            </a:r>
            <a:r>
              <a:rPr sz="1600" b="1" dirty="0" err="1"/>
              <a:t>pom.xml</a:t>
            </a:r>
            <a:r>
              <a:rPr sz="1600" b="1" dirty="0"/>
              <a:t>, dependency management, compiler plugins)</a:t>
            </a:r>
          </a:p>
          <a:p>
            <a:r>
              <a:rPr sz="1600" b="1" dirty="0"/>
              <a:t>Enterprise Java patterns (Swing UI, layered MVC, in-memory repositories, exception hierarchies)</a:t>
            </a:r>
          </a:p>
          <a:p>
            <a:endParaRPr sz="1600" b="1" dirty="0"/>
          </a:p>
          <a:p>
            <a:r>
              <a:rPr sz="1600" b="1" dirty="0"/>
              <a:t>Native IBM Product Understanding</a:t>
            </a:r>
            <a:r>
              <a:rPr lang="en-US" sz="1600" b="1" dirty="0"/>
              <a:t>:</a:t>
            </a:r>
            <a:endParaRPr sz="1600" b="1" dirty="0"/>
          </a:p>
          <a:p>
            <a:r>
              <a:rPr sz="1600" b="1" dirty="0"/>
              <a:t>- Specialized /java-modernization mode trained for Java 8 → Java 21</a:t>
            </a:r>
            <a:r>
              <a:rPr lang="en-US" sz="1600" b="1" dirty="0"/>
              <a:t>+</a:t>
            </a:r>
            <a:r>
              <a:rPr sz="1600" b="1" dirty="0"/>
              <a:t> migration</a:t>
            </a:r>
          </a:p>
          <a:p>
            <a:r>
              <a:rPr sz="1600" b="1" dirty="0"/>
              <a:t>- IBM Cloud and Code Engine deployment patterns and best practices</a:t>
            </a:r>
          </a:p>
          <a:p>
            <a:r>
              <a:rPr sz="1600" b="1" dirty="0"/>
              <a:t>- Integration with the IBM </a:t>
            </a:r>
            <a:r>
              <a:rPr sz="1600" b="1" dirty="0" err="1"/>
              <a:t>watsonx</a:t>
            </a:r>
            <a:r>
              <a:rPr sz="1600" b="1" dirty="0"/>
              <a:t> Orchestrate ecosystem</a:t>
            </a:r>
          </a:p>
          <a:p>
            <a:r>
              <a:rPr sz="1600" b="1" dirty="0"/>
              <a:t>- Understanding of IBM's enterprise Java tooling (Open Liberty, </a:t>
            </a:r>
            <a:r>
              <a:rPr sz="1600" b="1" dirty="0" err="1"/>
              <a:t>Semeru</a:t>
            </a:r>
            <a:r>
              <a:rPr sz="1600" b="1" dirty="0"/>
              <a:t>)</a:t>
            </a:r>
          </a:p>
          <a:p>
            <a:r>
              <a:rPr sz="1600" b="1" dirty="0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Why a Mode — not just hand-coding?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You can modernize one class by hand. The value is the whole estate — identically, safely, in hours, not months.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27632"/>
          <a:ext cx="1127455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4480560"/>
                <a:gridCol w="473659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Dimension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By hand — developer alone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With /java-modernization mode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One class is quick; the whole system is weeks of toil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Hundreds of files in hours — one shared playbook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Consistency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Fatigue creeps in; 5 developers → 5 styles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Identical rules applied to every file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Expertise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Needs a senior who knows the traps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Senior-level know-how baked into the mode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Risk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Missed call sites, silent behavior changes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Build stays green, behavior preserved, full diff audit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Portfolio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Re-learned for each application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Written once → reused across the whole Java estate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It isn't Bob vs the developer — it's developer + Bob.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The judgment stays human; the toil disappears.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AI alone  vs  AI +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Bob isn't a different AI — it's the same model, made enterprise-ready.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F2F4F8"/>
          </a:solidFill>
          <a:ln w="9525">
            <a:solidFill>
              <a:srgbClr val="C7C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525252"/>
                </a:solidFill>
                <a:latin typeface="IBM Plex Sans"/>
              </a:rPr>
              <a:t>AI alone — a generic assistant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Improvises per prompt — output varies with phrasing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No enterprise methodology or guardrails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Generic — no access to your systems or the IBM stack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Black box — no built-in review or audit trail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Stateless — you re-explain the context every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EDF2FF"/>
          </a:solidFill>
          <a:ln w="15875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0F62FE"/>
                </a:solidFill>
                <a:latin typeface="IBM Plex Sans"/>
              </a:rPr>
              <a:t>AI + Bob — enterprise-ready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Specialized modes &amp; playbooks (e.g. /java-modernization)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Skills &amp; MCP servers — TechZone, watsonx Orchestrate, web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Native IBM stack — Liberty, Semeru, IBM Cloud, Code Engine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Per-file approval, build-green discipline, full diff audit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Knowledge baked in, reused across the whole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Same AI horsepower —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plus the methodology, tools, and governance an enterprise needs.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 i="0">
                <a:solidFill>
                  <a:srgbClr val="525252"/>
                </a:solidFill>
                <a:latin typeface="IBM Plex Sans Light"/>
              </a:rPr>
              <a:t>What IBM says about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0F62FE"/>
                </a:solidFill>
                <a:latin typeface="IBM Plex Sans"/>
              </a:rPr>
              <a:t>Faster innovation, higher productivity — built for scale, security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productivity gains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across SDLC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3552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90%+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3552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time savings on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repetitive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9904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9904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faster on complex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engineering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6256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~40%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6256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lower AI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compute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Scale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Orchestrates planning, execution and verification across the full SDLC.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5384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Security-first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Detects vulnerabilities during code authoring — not after the fact.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Governance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Auditable guardrails and audit-readiness embedded at authoring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E2841"/>
                </a:solidFill>
                <a:latin typeface="IBM Plex Sans"/>
              </a:rPr>
              <a:t>IBM's own positioning — </a:t>
            </a:r>
            <a:r>
              <a:rPr sz="1350" b="0" i="1">
                <a:solidFill>
                  <a:srgbClr val="525252"/>
                </a:solidFill>
                <a:latin typeface="IBM Plex Sans"/>
              </a:rPr>
              <a:t>ship faster, modernize continuously, stay secure and governed.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6382512"/>
            <a:ext cx="5788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1">
                <a:solidFill>
                  <a:srgbClr val="6F6F6F"/>
                </a:solidFill>
                <a:latin typeface="IBM Plex Sans"/>
              </a:rPr>
              <a:t>Source: ibm.com/products/ai-coding-agent — IBM official figures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224</Words>
  <Application>Microsoft Macintosh PowerPoint</Application>
  <PresentationFormat>Widescreen</PresentationFormat>
  <Paragraphs>50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45</cp:revision>
  <dcterms:created xsi:type="dcterms:W3CDTF">2024-12-04T16:03:20Z</dcterms:created>
  <dcterms:modified xsi:type="dcterms:W3CDTF">2026-05-20T08:26:35Z</dcterms:modified>
</cp:coreProperties>
</file>